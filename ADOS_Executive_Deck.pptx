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5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46EF"/>
                </a:solidFill>
                <a:latin typeface="Arial"/>
              </a:defRPr>
            </a:pPr>
            <a:r>
              <a:t>ENTERPRISE DECISION OPERATING SYSTEM</a:t>
            </a:r>
          </a:p>
          <a:p>
            <a:pPr>
              <a:defRPr sz="7200" b="1">
                <a:solidFill>
                  <a:srgbClr val="FFFFFF"/>
                </a:solidFill>
                <a:latin typeface="Arial"/>
              </a:defRPr>
            </a:pPr>
            <a:r>
              <a:t>ADOS</a:t>
            </a:r>
          </a:p>
          <a:p>
            <a:pPr>
              <a:defRPr sz="2200">
                <a:solidFill>
                  <a:srgbClr val="E9D5FF"/>
                </a:solidFill>
                <a:latin typeface="Arial"/>
              </a:defRPr>
            </a:pPr>
            <a:r>
              <a:t>Risk-Bound Governance for Autonomous Industrial AI Swarms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A8D9B"/>
                </a:solidFill>
                <a:latin typeface="Arial"/>
              </a:defRPr>
            </a:pPr>
            <a:r>
              <a:t>APPLIED AI DASHBOARD  •  PLANT OPERATIONS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5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D946EF"/>
                </a:solidFill>
                <a:latin typeface="Arial"/>
              </a:defRPr>
            </a:pPr>
            <a:r>
              <a:t>PROBLEM STATEMENT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Industrial Dilemma: Costly Stops vs AI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698480" cy="18288"/>
          </a:xfrm>
          <a:prstGeom prst="rect">
            <a:avLst/>
          </a:prstGeom>
          <a:solidFill>
            <a:srgbClr val="130D2C"/>
          </a:solidFill>
          <a:ln>
            <a:solidFill>
              <a:srgbClr val="130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2103120"/>
            <a:ext cx="4572000" cy="3657600"/>
          </a:xfrm>
          <a:prstGeom prst="roundRect">
            <a:avLst/>
          </a:prstGeom>
          <a:solidFill>
            <a:srgbClr val="130D2C"/>
          </a:solidFill>
          <a:ln w="19050">
            <a:solidFill>
              <a:srgbClr val="8A8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1. Manual Diagnostics (Slow)</a:t>
            </a:r>
          </a:p>
          <a:p>
            <a:br/>
            <a:pPr>
              <a:defRPr sz="1300">
                <a:solidFill>
                  <a:srgbClr val="E9D5FF"/>
                </a:solidFill>
              </a:defRPr>
            </a:pPr>
            <a:r>
              <a:t>• Downtime Cost: Shutting down production costs up to $10,000 per hour.</a:t>
            </a:r>
            <a:br/>
            <a:br/>
            <a:r>
              <a:t>• Analysis Paralysis: Maintenance crews spend hours manually analyzing log sheets and diagnosing physical root causes.</a:t>
            </a:r>
            <a:br/>
            <a:br/>
            <a:r>
              <a:t>• Impact: High MTTR (Mean Time to Resolution) directly harms shift productivity.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103120"/>
            <a:ext cx="4572000" cy="3657600"/>
          </a:xfrm>
          <a:prstGeom prst="roundRect">
            <a:avLst/>
          </a:prstGeom>
          <a:solidFill>
            <a:srgbClr val="130D2C"/>
          </a:solidFill>
          <a:ln w="1905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/>
          <a:lstStyle/>
          <a:p>
            <a:pPr algn="ctr">
              <a:defRPr sz="2000" b="1">
                <a:solidFill>
                  <a:srgbClr val="D946EF"/>
                </a:solidFill>
              </a:defRPr>
            </a:pPr>
            <a:r>
              <a:t>2. Raw AI Autonomy (Dangerous)</a:t>
            </a:r>
          </a:p>
          <a:p>
            <a:br/>
            <a:pPr>
              <a:defRPr sz="1300">
                <a:solidFill>
                  <a:srgbClr val="E9D5FF"/>
                </a:solidFill>
              </a:defRPr>
            </a:pPr>
            <a:r>
              <a:t>• Hallucination Risk: Without guardrails, an AI agent can execute an incorrect parameter change.</a:t>
            </a:r>
            <a:br/>
            <a:br/>
            <a:r>
              <a:t>• Real Example: AI diagnoses bearing thermal drift as a 'dry bit', spraying lubricant, causing a $75,000 spindle to seize.</a:t>
            </a:r>
            <a:br/>
            <a:br/>
            <a:r>
              <a:t>• Outcome: High liability, unauthorized expenditures, and catastrophic physical defects.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5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D946EF"/>
                </a:solidFill>
                <a:latin typeface="Arial"/>
              </a:defRPr>
            </a:pPr>
            <a:r>
              <a:t>THE ADOS SOLUTION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Safe Autonomous Operations via Multi-Agent Swarms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698480" cy="18288"/>
          </a:xfrm>
          <a:prstGeom prst="rect">
            <a:avLst/>
          </a:prstGeom>
          <a:solidFill>
            <a:srgbClr val="130D2C"/>
          </a:solidFill>
          <a:ln>
            <a:solidFill>
              <a:srgbClr val="130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291840" cy="3474720"/>
          </a:xfrm>
          <a:prstGeom prst="roundRect">
            <a:avLst/>
          </a:prstGeom>
          <a:solidFill>
            <a:srgbClr val="130D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1. Multi-Modal Ingest</a:t>
            </a:r>
          </a:p>
          <a:p>
            <a:br/>
            <a:pPr>
              <a:defRPr sz="1300">
                <a:solidFill>
                  <a:srgbClr val="E9D5FF"/>
                </a:solidFill>
              </a:defRPr>
            </a:pPr>
            <a:r>
              <a:t>Ingests high-resolution camera images of cuts alongside CAD design specs, sensor metrics, and line priorities to build a rich physical data snapshot.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94560"/>
            <a:ext cx="3291840" cy="3474720"/>
          </a:xfrm>
          <a:prstGeom prst="roundRect">
            <a:avLst/>
          </a:prstGeom>
          <a:solidFill>
            <a:srgbClr val="130D2C"/>
          </a:solidFill>
          <a:ln w="1905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800" b="1">
                <a:solidFill>
                  <a:srgbClr val="D946EF"/>
                </a:solidFill>
              </a:defRPr>
            </a:pPr>
            <a:r>
              <a:t>2. Swarm Diagnostics</a:t>
            </a:r>
          </a:p>
          <a:p>
            <a:br/>
            <a:pPr>
              <a:defRPr sz="1300">
                <a:solidFill>
                  <a:srgbClr val="E9D5FF"/>
                </a:solidFill>
              </a:defRPr>
            </a:pPr>
            <a:r>
              <a:t>Vision, CAD, and Causal Isolation agents collaborate. The Bayesian Causal Graph computes root cause probabilities instead of relying on a single raw LLM guess.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94560"/>
            <a:ext cx="3291840" cy="3474720"/>
          </a:xfrm>
          <a:prstGeom prst="roundRect">
            <a:avLst/>
          </a:prstGeom>
          <a:solidFill>
            <a:srgbClr val="130D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3. Causal Synthesis</a:t>
            </a:r>
          </a:p>
          <a:p>
            <a:br/>
            <a:pPr>
              <a:defRPr sz="1300">
                <a:solidFill>
                  <a:srgbClr val="E9D5FF"/>
                </a:solidFill>
              </a:defRPr>
            </a:pPr>
            <a:r>
              <a:t>A local LLM synthesizes a human-readable root cause report based on the isolated evidence paths, delivering clear explanations to plant operators.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5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D946EF"/>
                </a:solidFill>
                <a:latin typeface="Arial"/>
              </a:defRPr>
            </a:pPr>
            <a:r>
              <a:t>SAFETY ARCHITECTURE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Dynamic Risk-Bound Governance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698480" cy="18288"/>
          </a:xfrm>
          <a:prstGeom prst="rect">
            <a:avLst/>
          </a:prstGeom>
          <a:solidFill>
            <a:srgbClr val="130D2C"/>
          </a:solidFill>
          <a:ln>
            <a:solidFill>
              <a:srgbClr val="130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291840" cy="3474720"/>
          </a:xfrm>
          <a:prstGeom prst="roundRect">
            <a:avLst/>
          </a:prstGeom>
          <a:solidFill>
            <a:srgbClr val="130D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TIER 0 - AUTONOMOUS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Cost &lt; $500  &amp;  Confidence &gt; 85%</a:t>
            </a:r>
          </a:p>
          <a:p>
            <a:br/>
            <a:pPr>
              <a:defRPr sz="1200">
                <a:solidFill>
                  <a:srgbClr val="E9D5FF"/>
                </a:solidFill>
              </a:defRPr>
            </a:pPr>
            <a:r>
              <a:t>Remediates minor anomalies automatically.</a:t>
            </a:r>
            <a:br/>
            <a:br/>
            <a:r>
              <a:t>• Adjusts motor offset limits</a:t>
            </a:r>
            <a:br/>
            <a:r>
              <a:t>• Reschedules through integrations</a:t>
            </a:r>
            <a:br/>
            <a:r>
              <a:t>• Zero human delay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94560"/>
            <a:ext cx="3291840" cy="3474720"/>
          </a:xfrm>
          <a:prstGeom prst="roundRect">
            <a:avLst/>
          </a:prstGeom>
          <a:solidFill>
            <a:srgbClr val="130D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TIER 1 - MANAGER APPROVAL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Cost $500 - $5,000  &amp;  Confidence &gt; 60%</a:t>
            </a:r>
          </a:p>
          <a:p>
            <a:br/>
            <a:pPr>
              <a:defRPr sz="1200">
                <a:solidFill>
                  <a:srgbClr val="E9D5FF"/>
                </a:solidFill>
              </a:defRPr>
            </a:pPr>
            <a:r>
              <a:t>Holds execution in digital queue.</a:t>
            </a:r>
            <a:br/>
            <a:br/>
            <a:r>
              <a:t>• Prompts manager sign-off</a:t>
            </a:r>
            <a:br/>
            <a:r>
              <a:t>• Validates user role via RBAC</a:t>
            </a:r>
            <a:br/>
            <a:r>
              <a:t>• One-click override on phone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94560"/>
            <a:ext cx="3291840" cy="3474720"/>
          </a:xfrm>
          <a:prstGeom prst="roundRect">
            <a:avLst/>
          </a:prstGeom>
          <a:solidFill>
            <a:srgbClr val="130D2C"/>
          </a:solidFill>
          <a:ln w="1905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600" b="1">
                <a:solidFill>
                  <a:srgbClr val="D946EF"/>
                </a:solidFill>
              </a:defRPr>
            </a:pPr>
            <a:r>
              <a:t>TIER 2 - EXECUTIVE LOCKOUT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Cost &gt; $5,000  |  Confidence &lt; 60%</a:t>
            </a:r>
          </a:p>
          <a:p>
            <a:br/>
            <a:pPr>
              <a:defRPr sz="1200">
                <a:solidFill>
                  <a:srgbClr val="E9D5FF"/>
                </a:solidFill>
              </a:defRPr>
            </a:pPr>
            <a:r>
              <a:t>AI is locked out from execution.</a:t>
            </a:r>
            <a:br/>
            <a:br/>
            <a:r>
              <a:t>• Automatically pauses the line</a:t>
            </a:r>
            <a:br/>
            <a:r>
              <a:t>• Requires multi-executive sign-off</a:t>
            </a:r>
            <a:br/>
            <a:r>
              <a:t>• Prevents high-risk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5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D946EF"/>
                </a:solidFill>
                <a:latin typeface="Arial"/>
              </a:defRPr>
            </a:pPr>
            <a:r>
              <a:t>VALUE REALIZATION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Quantified Operational ROI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698480" cy="18288"/>
          </a:xfrm>
          <a:prstGeom prst="rect">
            <a:avLst/>
          </a:prstGeom>
          <a:solidFill>
            <a:srgbClr val="130D2C"/>
          </a:solidFill>
          <a:ln>
            <a:solidFill>
              <a:srgbClr val="130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10B981"/>
                </a:solidFill>
                <a:latin typeface="Arial"/>
              </a:defRPr>
            </a:pPr>
            <a:r>
              <a:t>-84%</a:t>
            </a:r>
          </a:p>
          <a:p>
            <a:pPr>
              <a:defRPr sz="1300">
                <a:solidFill>
                  <a:srgbClr val="E9D5FF"/>
                </a:solidFill>
              </a:defRPr>
            </a:pPr>
            <a:r>
              <a:t>Reduction in Mean Time to Resolution (MTTR)</a:t>
            </a:r>
            <a:br/>
            <a:r>
              <a:t>Average downtime falls from 4.5 hours to under 39 minutes.</a:t>
            </a:r>
            <a:br/>
          </a:p>
          <a:p>
            <a:pPr>
              <a:defRPr sz="6400" b="1">
                <a:solidFill>
                  <a:srgbClr val="38BDF8"/>
                </a:solidFill>
                <a:latin typeface="Arial"/>
              </a:defRPr>
            </a:pPr>
            <a:r>
              <a:t>$142,500</a:t>
            </a:r>
          </a:p>
          <a:p>
            <a:pPr>
              <a:defRPr sz="1300">
                <a:solidFill>
                  <a:srgbClr val="E9D5FF"/>
                </a:solidFill>
              </a:defRPr>
            </a:pPr>
            <a:r>
              <a:t>Average Protected Shift Revenue per Incident</a:t>
            </a:r>
            <a:br/>
            <a:r>
              <a:t>Saved by preventing prolonged diagnostic stoppages.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212080" cy="3840480"/>
          </a:xfrm>
          <a:prstGeom prst="roundRect">
            <a:avLst/>
          </a:prstGeom>
          <a:solidFill>
            <a:srgbClr val="130D2C"/>
          </a:solidFill>
          <a:ln w="1905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Core Integration Architecture</a:t>
            </a:r>
          </a:p>
          <a:p>
            <a:br/>
            <a:pPr>
              <a:defRPr sz="1300">
                <a:solidFill>
                  <a:srgbClr val="E9D5FF"/>
                </a:solidFill>
              </a:defRPr>
            </a:pPr>
            <a:r>
              <a:t>• ServiceNow Live Ticket Wiring: Automatically creates, updates, and tracks maintenance tickets (CHG/INC).</a:t>
            </a:r>
            <a:br/>
            <a:br/>
            <a:r>
              <a:t>• Dynamic Policy Customization: No-code visual rule builder allows immediate rollout of safety limits to the live backend.</a:t>
            </a:r>
            <a:br/>
            <a:br/>
            <a:r>
              <a:t>• Full Audit Traceability: Immutable decision history logged for compliance audits and vector learning recalibration.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