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101" y="330101"/>
            <a:ext cx="8483798" cy="4483298"/>
          </a:xfrm>
          <a:prstGeom prst="rect">
            <a:avLst/>
          </a:prstGeom>
          <a:solidFill>
            <a:srgbClr val="12161D"/>
          </a:solidFill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18512" y="517327"/>
            <a:ext cx="9764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 01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5927" y="669727"/>
            <a:ext cx="7805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 MOTORS · PLANT 04 · BANGALORE, KARNATAKA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5927" y="914102"/>
            <a:ext cx="780519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50"/>
              </a:lnSpc>
              <a:spcAft>
                <a:spcPts val="800"/>
              </a:spcAft>
              <a:buNone/>
            </a:pPr>
            <a:r>
              <a:rPr lang="en-US" sz="70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ADOS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745927" y="1860054"/>
            <a:ext cx="780519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8991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Defect &amp; Orchestration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5927" y="2345829"/>
            <a:ext cx="51815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CEE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a factory doesn't know what to do next, ADOS does.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5927" y="2809280"/>
            <a:ext cx="7652147" cy="9525"/>
          </a:xfrm>
          <a:prstGeom prst="rect">
            <a:avLst/>
          </a:prstGeom>
          <a:solidFill>
            <a:srgbClr val="262C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5927" y="2996505"/>
            <a:ext cx="23317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45927" y="3161556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CEE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Overview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31927" y="2996505"/>
            <a:ext cx="28498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031927" y="3161556"/>
            <a:ext cx="28498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CEE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800V EV Powertrain, Plant 04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25877" y="2996505"/>
            <a:ext cx="1943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25877" y="3161556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FB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101" y="330101"/>
            <a:ext cx="8483798" cy="4483298"/>
          </a:xfrm>
          <a:prstGeom prst="rect">
            <a:avLst/>
          </a:prstGeom>
          <a:solidFill>
            <a:srgbClr val="12161D"/>
          </a:solidFill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18512" y="517327"/>
            <a:ext cx="9764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 02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5927" y="669727"/>
            <a:ext cx="7805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5927" y="914102"/>
            <a:ext cx="6736029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spcAft>
                <a:spcPts val="1400"/>
              </a:spcAft>
              <a:buNone/>
            </a:pPr>
            <a:r>
              <a:rPr lang="en-US" sz="27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defect stops the line. Then everyone waits.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5927" y="1880295"/>
            <a:ext cx="5958789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engineer has to notice it, investigate root cause by hand, weigh options with no real cost or risk model, get sign-off if it's expensive, then go create the paperwork — a loop that runs on whoever happens to be on shift, not on a consistent standard.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5927" y="3188196"/>
            <a:ext cx="780519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$8,500</a:t>
            </a:r>
            <a:pPr algn="l" indent="0" marL="0">
              <a:buNone/>
            </a:pPr>
            <a:r>
              <a:rPr lang="en-US" sz="11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 minute of line-down time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45927" y="3858071"/>
            <a:ext cx="595878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what Plant 04 is actually configured to weigh every resolution decision against — the number that has to justify every minute an engineer spends deciding instead of acting.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101" y="330101"/>
            <a:ext cx="8483798" cy="4483298"/>
          </a:xfrm>
          <a:prstGeom prst="rect">
            <a:avLst/>
          </a:prstGeom>
          <a:solidFill>
            <a:srgbClr val="12161D"/>
          </a:solidFill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18512" y="517327"/>
            <a:ext cx="9764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 03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5927" y="669727"/>
            <a:ext cx="7805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ADOS DOES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5927" y="914102"/>
            <a:ext cx="780519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5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Detect. Diagnose. Decide. Act. Learn.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45927" y="1377553"/>
            <a:ext cx="78051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continuous pipeline, not five separate tools stitched together after the fact.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5927" y="1844278"/>
            <a:ext cx="1517749" cy="1377851"/>
          </a:xfrm>
          <a:prstGeom prst="rect">
            <a:avLst/>
          </a:prstGeom>
          <a:noFill/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5052" y="2006203"/>
            <a:ext cx="12438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· DETECT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5052" y="2196703"/>
            <a:ext cx="12438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&amp; CAD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5052" y="2434828"/>
            <a:ext cx="1243888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7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Optical inspection cross-checked against nominal CAD tolerance in seconds.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276326" y="1844278"/>
            <a:ext cx="1517898" cy="1377851"/>
          </a:xfrm>
          <a:prstGeom prst="rect">
            <a:avLst/>
          </a:prstGeom>
          <a:noFill/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425452" y="2006203"/>
            <a:ext cx="12440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 · DIAGNOSE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25452" y="2196703"/>
            <a:ext cx="12440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Isolation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25452" y="2434828"/>
            <a:ext cx="1244039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7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causal graph plus LLM reasoning ranks root causes by evidence, not guesswork.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3806875" y="1844278"/>
            <a:ext cx="1517749" cy="1377851"/>
          </a:xfrm>
          <a:prstGeom prst="rect">
            <a:avLst/>
          </a:prstGeom>
          <a:noFill/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56000" y="2006203"/>
            <a:ext cx="12438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 · DECIDE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56000" y="2196703"/>
            <a:ext cx="12438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Simulation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56000" y="2596753"/>
            <a:ext cx="1243888" cy="46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7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option priced: cost, downtime minutes, quality risk.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5337274" y="1844278"/>
            <a:ext cx="1517749" cy="1377851"/>
          </a:xfrm>
          <a:prstGeom prst="rect">
            <a:avLst/>
          </a:prstGeom>
          <a:noFill/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86400" y="2006203"/>
            <a:ext cx="12438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 · ACT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0" y="2196703"/>
            <a:ext cx="12438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Execution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0" y="2596753"/>
            <a:ext cx="1243888" cy="46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7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Executes autonomously, or routes to the human the exposure warrants.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6867674" y="1844278"/>
            <a:ext cx="1517749" cy="1377851"/>
          </a:xfrm>
          <a:prstGeom prst="rect">
            <a:avLst/>
          </a:prstGeom>
          <a:noFill/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016800" y="2006203"/>
            <a:ext cx="12438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 · LEARN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16800" y="2196703"/>
            <a:ext cx="12438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Calibration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016800" y="2596753"/>
            <a:ext cx="1243888" cy="46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7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real outcome updates the causal model's confidence.</a:t>
            </a:r>
            <a:endParaRPr lang="en-US" sz="8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101" y="330101"/>
            <a:ext cx="8483798" cy="4483298"/>
          </a:xfrm>
          <a:prstGeom prst="rect">
            <a:avLst/>
          </a:prstGeom>
          <a:solidFill>
            <a:srgbClr val="12161D"/>
          </a:solidFill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18512" y="517327"/>
            <a:ext cx="9764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 04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5927" y="669727"/>
            <a:ext cx="7805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TRUST MECHANISM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5927" y="914102"/>
            <a:ext cx="6736029" cy="729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Aft>
                <a:spcPts val="1200"/>
              </a:spcAft>
              <a:buNone/>
            </a:pPr>
            <a:r>
              <a:rPr lang="en-US" sz="25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Autonomy is earned per decision, not granted by default.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45927" y="1796355"/>
            <a:ext cx="621792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recommendation is scored on financial exposure and confidence. Cheap and confident, ADOS acts. Expensive or uncertain, it waits for the right human.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5927" y="2526506"/>
            <a:ext cx="24612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5927" y="2742307"/>
            <a:ext cx="2461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— under $25K, &gt;90% confidence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58877" y="2615357"/>
            <a:ext cx="4540746" cy="171450"/>
          </a:xfrm>
          <a:prstGeom prst="rect">
            <a:avLst/>
          </a:prstGeom>
          <a:solidFill>
            <a:srgbClr val="262C38"/>
          </a:solidFill>
          <a:ln w="9525">
            <a:solidFill>
              <a:srgbClr val="333A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68402" y="2624882"/>
            <a:ext cx="1478459" cy="152400"/>
          </a:xfrm>
          <a:prstGeom prst="rect">
            <a:avLst/>
          </a:prstGeom>
          <a:solidFill>
            <a:srgbClr val="4FBF9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85654" y="2610594"/>
            <a:ext cx="712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EC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5927" y="3053358"/>
            <a:ext cx="24612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5927" y="3269159"/>
            <a:ext cx="2461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 approval required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58877" y="3142208"/>
            <a:ext cx="4540746" cy="171450"/>
          </a:xfrm>
          <a:prstGeom prst="rect">
            <a:avLst/>
          </a:prstGeom>
          <a:solidFill>
            <a:srgbClr val="262C38"/>
          </a:solidFill>
          <a:ln w="9525">
            <a:solidFill>
              <a:srgbClr val="333A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168402" y="3151733"/>
            <a:ext cx="2532013" cy="152400"/>
          </a:xfrm>
          <a:prstGeom prst="rect">
            <a:avLst/>
          </a:prstGeom>
          <a:solidFill>
            <a:srgbClr val="E3A03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85654" y="3137446"/>
            <a:ext cx="712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EC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5927" y="3580209"/>
            <a:ext cx="24612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5927" y="3796010"/>
            <a:ext cx="2461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approval — always, above $250K or critical risk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58877" y="3735735"/>
            <a:ext cx="4540746" cy="171450"/>
          </a:xfrm>
          <a:prstGeom prst="rect">
            <a:avLst/>
          </a:prstGeom>
          <a:solidFill>
            <a:srgbClr val="262C38"/>
          </a:solidFill>
          <a:ln w="9525">
            <a:solidFill>
              <a:srgbClr val="333A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168402" y="3745260"/>
            <a:ext cx="510927" cy="152400"/>
          </a:xfrm>
          <a:prstGeom prst="rect">
            <a:avLst/>
          </a:prstGeom>
          <a:solidFill>
            <a:srgbClr val="C457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85654" y="3730972"/>
            <a:ext cx="712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EC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101" y="330101"/>
            <a:ext cx="8483798" cy="4483298"/>
          </a:xfrm>
          <a:prstGeom prst="rect">
            <a:avLst/>
          </a:prstGeom>
          <a:solidFill>
            <a:srgbClr val="12161D"/>
          </a:solidFill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18512" y="517327"/>
            <a:ext cx="9764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 05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5927" y="669727"/>
            <a:ext cx="7805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PROOF, NOT A DEMO SCRIPT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5927" y="914102"/>
            <a:ext cx="6736029" cy="36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Aft>
                <a:spcPts val="1200"/>
              </a:spcAft>
              <a:buNone/>
            </a:pPr>
            <a:r>
              <a:rPr lang="en-US" sz="25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doesn't suggest a ticket. It creates one.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45927" y="1431429"/>
            <a:ext cx="621792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decision-support AI stops at a recommendation on a screen. ADOS completes the loop — writing directly into the real system of record, through a dedicated watsonx Orchestrate agent talking to a live ServiceNow instance.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5927" y="2374404"/>
            <a:ext cx="7652147" cy="1181100"/>
          </a:xfrm>
          <a:prstGeom prst="rect">
            <a:avLst/>
          </a:prstGeom>
          <a:noFill/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55452" y="2769691"/>
            <a:ext cx="7633097" cy="0"/>
          </a:xfrm>
          <a:prstGeom prst="line">
            <a:avLst/>
          </a:prstGeom>
          <a:noFill/>
          <a:ln w="9525">
            <a:solidFill>
              <a:srgbClr val="262C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7852" y="2498229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INC0010001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0852" y="2498229"/>
            <a:ext cx="52727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ScheduleMaintenance — Line 2 CNC-102 parameter compensation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99930" y="2517279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4FB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55452" y="3160216"/>
            <a:ext cx="7633097" cy="0"/>
          </a:xfrm>
          <a:prstGeom prst="line">
            <a:avLst/>
          </a:prstGeom>
          <a:noFill/>
          <a:ln w="9525">
            <a:solidFill>
              <a:srgbClr val="262C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7852" y="2888754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INC0010002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0852" y="2888754"/>
            <a:ext cx="52727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CreateIncident — direct capability invocation, Tier 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99930" y="2907804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4FB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07852" y="3279279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INC0010003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0852" y="3279279"/>
            <a:ext cx="52727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CreateIncident — created live from ADOS's own control room UI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99930" y="3298329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4FB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101" y="330101"/>
            <a:ext cx="8483798" cy="4483298"/>
          </a:xfrm>
          <a:prstGeom prst="rect">
            <a:avLst/>
          </a:prstGeom>
          <a:solidFill>
            <a:srgbClr val="12161D"/>
          </a:solidFill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18512" y="517327"/>
            <a:ext cx="9764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 06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5927" y="669727"/>
            <a:ext cx="7805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PLANT, MIRRORED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5927" y="914102"/>
            <a:ext cx="780519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5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lines. Live telemetry. One control room.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45927" y="1428452"/>
            <a:ext cx="647689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line reports real status and drifting sensor telemetry, polled every five seconds — and any one of them can trigger a governed resolution the moment something drifts out of tolerance.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5927" y="2396728"/>
            <a:ext cx="1900386" cy="938957"/>
          </a:xfrm>
          <a:prstGeom prst="rect">
            <a:avLst/>
          </a:prstGeom>
          <a:noFill/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07852" y="261729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FBF9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72902" y="2571304"/>
            <a:ext cx="4733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7852" y="2841129"/>
            <a:ext cx="16080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Stator &amp; Rotor Cell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58963" y="2396728"/>
            <a:ext cx="1900386" cy="938957"/>
          </a:xfrm>
          <a:prstGeom prst="rect">
            <a:avLst/>
          </a:prstGeom>
          <a:noFill/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20888" y="261729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FBF9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85939" y="2571304"/>
            <a:ext cx="4945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20888" y="2841129"/>
            <a:ext cx="160806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Housing Machining &amp; Inspection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2396728"/>
            <a:ext cx="1900386" cy="938957"/>
          </a:xfrm>
          <a:prstGeom prst="rect">
            <a:avLst/>
          </a:prstGeom>
          <a:noFill/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33925" y="261729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FBF9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98975" y="2571304"/>
            <a:ext cx="49427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33925" y="2841129"/>
            <a:ext cx="16080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Drive Testing &amp; Pack-Out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85037" y="2396728"/>
            <a:ext cx="1900386" cy="938957"/>
          </a:xfrm>
          <a:prstGeom prst="rect">
            <a:avLst/>
          </a:prstGeom>
          <a:noFill/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46962" y="261729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FBF9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12012" y="2571304"/>
            <a:ext cx="9156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Warehouse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46962" y="2841129"/>
            <a:ext cx="160806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 Automated Storage &amp; Retrieval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101" y="330101"/>
            <a:ext cx="8483798" cy="4483298"/>
          </a:xfrm>
          <a:prstGeom prst="rect">
            <a:avLst/>
          </a:prstGeom>
          <a:solidFill>
            <a:srgbClr val="12161D"/>
          </a:solidFill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18512" y="517327"/>
            <a:ext cx="9764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 07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5927" y="669727"/>
            <a:ext cx="7805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IT'S DELIVERED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5927" y="914102"/>
            <a:ext cx="780519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5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 behind the decisions.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45927" y="1479203"/>
            <a:ext cx="1900386" cy="1398389"/>
          </a:xfrm>
          <a:prstGeom prst="rect">
            <a:avLst/>
          </a:prstGeom>
          <a:noFill/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20502" y="1666429"/>
            <a:ext cx="158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TIME TO RESOLUTION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20502" y="2009329"/>
            <a:ext cx="158226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3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36.7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20502" y="2406104"/>
            <a:ext cx="1582260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3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12.2 min median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2658963" y="1479203"/>
            <a:ext cx="1900386" cy="1398389"/>
          </a:xfrm>
          <a:prstGeom prst="rect">
            <a:avLst/>
          </a:prstGeom>
          <a:noFill/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33539" y="1666429"/>
            <a:ext cx="15822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PROTECTED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833539" y="1895029"/>
            <a:ext cx="158226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3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$2.07M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833539" y="2291804"/>
            <a:ext cx="1582260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3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across 362 resolved incidents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4572000" y="1479203"/>
            <a:ext cx="1900386" cy="1398389"/>
          </a:xfrm>
          <a:prstGeom prst="rect">
            <a:avLst/>
          </a:prstGeom>
          <a:noFill/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46575" y="1666429"/>
            <a:ext cx="15822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AUTONOMY INDEX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46575" y="1895029"/>
            <a:ext cx="158226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3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32.7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746575" y="2291804"/>
            <a:ext cx="1582260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3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decided and executed, zero human wait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6485037" y="1479203"/>
            <a:ext cx="1900386" cy="1398389"/>
          </a:xfrm>
          <a:prstGeom prst="rect">
            <a:avLst/>
          </a:prstGeom>
          <a:noFill/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59612" y="1666429"/>
            <a:ext cx="158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 ACCEPTANCE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59612" y="2009329"/>
            <a:ext cx="158226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3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86.3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6659612" y="2406104"/>
            <a:ext cx="1582260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3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Tier 1/2 recommendations approved as-is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45927" y="3080742"/>
            <a:ext cx="78051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391 incidents processed · Tier 0 / 1 / 2 split: 128 / 219 / 44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101" y="330101"/>
            <a:ext cx="8483798" cy="4483298"/>
          </a:xfrm>
          <a:prstGeom prst="rect">
            <a:avLst/>
          </a:prstGeom>
          <a:solidFill>
            <a:srgbClr val="12161D"/>
          </a:solidFill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18512" y="517327"/>
            <a:ext cx="9764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 08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5927" y="669727"/>
            <a:ext cx="7805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ON REAL INFRASTRUCTURE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5927" y="914102"/>
            <a:ext cx="7805190" cy="36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Aft>
                <a:spcPts val="1000"/>
              </a:spcAft>
              <a:buNone/>
            </a:pPr>
            <a:r>
              <a:rPr lang="en-US" sz="25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prototype pretending to be a product.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45927" y="1486942"/>
            <a:ext cx="7652147" cy="0"/>
          </a:xfrm>
          <a:prstGeom prst="line">
            <a:avLst/>
          </a:prstGeom>
          <a:noFill/>
          <a:ln w="9525">
            <a:solidFill>
              <a:srgbClr val="262C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927" y="2102793"/>
            <a:ext cx="7652147" cy="0"/>
          </a:xfrm>
          <a:prstGeom prst="line">
            <a:avLst/>
          </a:prstGeom>
          <a:noFill/>
          <a:ln w="9525">
            <a:solidFill>
              <a:srgbClr val="262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927" y="1618655"/>
            <a:ext cx="68984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IBM watsonx Orchestrate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5927" y="1837730"/>
            <a:ext cx="689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Dedicated agent executing real ServiceNow writes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48613" y="175676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FBF9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88213" y="1737717"/>
            <a:ext cx="3160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FB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45927" y="2718643"/>
            <a:ext cx="7652147" cy="0"/>
          </a:xfrm>
          <a:prstGeom prst="line">
            <a:avLst/>
          </a:prstGeom>
          <a:noFill/>
          <a:ln w="9525">
            <a:solidFill>
              <a:srgbClr val="262C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927" y="2234505"/>
            <a:ext cx="68984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IBM Cloudant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5927" y="2453580"/>
            <a:ext cx="689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Persistent decision memory &amp; audit trail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48613" y="237261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FBF9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88213" y="2353568"/>
            <a:ext cx="3160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FB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45927" y="3334494"/>
            <a:ext cx="7652147" cy="0"/>
          </a:xfrm>
          <a:prstGeom prst="line">
            <a:avLst/>
          </a:prstGeom>
          <a:noFill/>
          <a:ln w="9525">
            <a:solidFill>
              <a:srgbClr val="262C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927" y="2850356"/>
            <a:ext cx="68984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IBM Watson NLU &amp; Text to Speech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5927" y="3069431"/>
            <a:ext cx="689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Reasoning-text analysis and spoken incident briefings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48613" y="298846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FBF9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088213" y="2969419"/>
            <a:ext cx="3160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FB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5927" y="3950345"/>
            <a:ext cx="7652147" cy="0"/>
          </a:xfrm>
          <a:prstGeom prst="line">
            <a:avLst/>
          </a:prstGeom>
          <a:noFill/>
          <a:ln w="9525">
            <a:solidFill>
              <a:srgbClr val="262C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927" y="3466207"/>
            <a:ext cx="68984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Self-hosted LLM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5927" y="3685282"/>
            <a:ext cx="689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On-prem root-cause reasoning, no data leaves the plant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48613" y="360432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FBF9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088213" y="3585270"/>
            <a:ext cx="3160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FB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45927" y="4082058"/>
            <a:ext cx="68984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Audit Trail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5927" y="4301133"/>
            <a:ext cx="689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decision, confidence score, approver, and ticket — logged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48613" y="422017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FBF9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088213" y="4201120"/>
            <a:ext cx="3160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FB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101" y="330101"/>
            <a:ext cx="8483798" cy="4483298"/>
          </a:xfrm>
          <a:prstGeom prst="rect">
            <a:avLst/>
          </a:prstGeom>
          <a:solidFill>
            <a:srgbClr val="12161D"/>
          </a:solidFill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18512" y="517327"/>
            <a:ext cx="9764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 09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5927" y="669727"/>
            <a:ext cx="7805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5927" y="914102"/>
            <a:ext cx="6736029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5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moves that raise the autonomy index.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45927" y="1866602"/>
            <a:ext cx="4663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03127" y="1866602"/>
            <a:ext cx="73388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Widen governed autonomy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3127" y="2107853"/>
            <a:ext cx="6217920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 Tier 0 eligibility as causal-confidence calibration earns it — not by loosening the thresholds.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5927" y="2485876"/>
            <a:ext cx="4663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03127" y="2485876"/>
            <a:ext cx="73388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capability 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3127" y="2727127"/>
            <a:ext cx="6217920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 CreateChangeRequest and NotifyOperator to the same real execution path ScheduleMaintenance already proves out.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5927" y="3280023"/>
            <a:ext cx="4663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03127" y="3280023"/>
            <a:ext cx="73388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Multi-plant rollout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03127" y="3521273"/>
            <a:ext cx="6217920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control room, every line, every plant — the same governed loop at fleet scale.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101" y="330101"/>
            <a:ext cx="8483798" cy="4483298"/>
          </a:xfrm>
          <a:prstGeom prst="rect">
            <a:avLst/>
          </a:prstGeom>
          <a:solidFill>
            <a:srgbClr val="12161D"/>
          </a:solidFill>
          <a:ln w="9525">
            <a:solidFill>
              <a:srgbClr val="262C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18512" y="517327"/>
            <a:ext cx="9764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 10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5927" y="669727"/>
            <a:ext cx="7805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E3A0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OF BRIEFING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5927" y="914102"/>
            <a:ext cx="7254139" cy="992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10"/>
              </a:lnSpc>
              <a:spcAft>
                <a:spcPts val="1400"/>
              </a:spcAft>
              <a:buNone/>
            </a:pPr>
            <a:r>
              <a:rPr lang="en-US" sz="34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factory already knows what to do next.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45927" y="2084784"/>
            <a:ext cx="78051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8991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 Motors · Plant 04 · Bangalore, Karnataka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5927" y="2500610"/>
            <a:ext cx="7652147" cy="9525"/>
          </a:xfrm>
          <a:prstGeom prst="rect">
            <a:avLst/>
          </a:prstGeom>
          <a:solidFill>
            <a:srgbClr val="262C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5927" y="2687836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5927" y="2852886"/>
            <a:ext cx="25906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EE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85827" y="2687836"/>
            <a:ext cx="25906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8991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85827" y="2852886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FBF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ADOS — Executive Briefing</dc:title>
  <dc:subject>PptxGenJS Presentation</dc:subject>
  <dc:creator>ADOS</dc:creator>
  <cp:lastModifiedBy>ADOS</cp:lastModifiedBy>
  <cp:revision>1</cp:revision>
  <dcterms:created xsi:type="dcterms:W3CDTF">2026-07-28T09:48:24Z</dcterms:created>
  <dcterms:modified xsi:type="dcterms:W3CDTF">2026-07-28T09:48:24Z</dcterms:modified>
</cp:coreProperties>
</file>